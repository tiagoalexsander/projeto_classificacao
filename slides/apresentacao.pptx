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a346e08-2a04-abc1-c26d-8c54ac7bb934}">
          <p14:sldIdLst>
            <p14:sldId id="256"/>
            <p14:sldId id="257"/>
          </p14:sldIdLst>
        </p14:section>
        <p14:section name="Dados" id="{4c4b397b-f96b-b746-1277-043bb7ea5cb1}">
          <p14:sldIdLst>
            <p14:sldId id="258"/>
            <p14:sldId id="259"/>
            <p14:sldId id="260"/>
          </p14:sldIdLst>
        </p14:section>
        <p14:section name="Método" id="{0eefdcc0-c87c-a1ca-620c-c8e34690b814}">
          <p14:sldIdLst>
            <p14:sldId id="261"/>
            <p14:sldId id="262"/>
          </p14:sldIdLst>
        </p14:section>
        <p14:section name="Resultados" id="{68b90fe3-174e-7c17-1001-c19d4b836529}">
          <p14:sldIdLst>
            <p14:sldId id="263"/>
            <p14:sldId id="264"/>
            <p14:sldId id="265"/>
            <p14:sldId id="266"/>
          </p14:sldIdLst>
        </p14:section>
        <p14:section name="Discussão" id="{60fb331d-0160-e017-5da9-955d784db1d4}">
          <p14:sldIdLst>
            <p14:sldId id="267"/>
            <p14:sldId id="268"/>
          </p14:sldIdLst>
        </p14:section>
        <p14:section name="Conclusão" id="{88901d1a-08e5-3509-2843-fbb6a4b99300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A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A1F3A"/>
                </a:solidFill>
                <a:latin typeface="+mn-lt"/>
              </a:rPr>
              <a:t>F1 da classe maligno — média de 10 folds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médio (CV)</c:v>
                </c:pt>
              </c:strCache>
            </c:strRef>
          </c:tx>
          <c:spPr>
            <a:solidFill>
              <a:srgbClr val="E8A0B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0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E2A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0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E2A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0B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E2A5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NB baseline</c:v>
                  </c:pt>
                  <c:pt idx="1">
                    <c:v>NB ajustado</c:v>
                  </c:pt>
                  <c:pt idx="2">
                    <c:v>AD baseline</c:v>
                  </c:pt>
                  <c:pt idx="3">
                    <c:v>AD ajustado</c:v>
                  </c:pt>
                  <c:pt idx="4">
                    <c:v>RF baseline</c:v>
                  </c:pt>
                  <c:pt idx="5">
                    <c:v>RF ajustado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0.916</c:v>
                </c:pt>
                <c:pt idx="1">
                  <c:v>0.917</c:v>
                </c:pt>
                <c:pt idx="2">
                  <c:v>0.885</c:v>
                </c:pt>
                <c:pt idx="3">
                  <c:v>0.911</c:v>
                </c:pt>
                <c:pt idx="4">
                  <c:v>0.939</c:v>
                </c:pt>
                <c:pt idx="5">
                  <c:v>0.949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A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objetivo: comparar três algoritmos clássicos, cada um em versão padrão e ajustada, num problema de diagnóstico, e decidir com base em evidências qual é o mais adequado.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a escolha do problema: relevância prática, alvo binário claro e custo assimétrico dos erros. Deixar claro desde o início que o falso negativo é o erro mais grave — isso guia todas as escolhas de métricas.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Origem e justificativa da base. Explicar a recodificação: no scikit-learn 0 é maligno; invertemos para 1 = maligno, a classe de interesse. Desbalanceamento moderado: quem chutasse sempre benigno teria 62,7% de acurácia sem detectar nenhum câncer.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o gráfico: vermelho = maligno, azul = benigno. Onde as curvas se separam, o atributo é informativo.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provável do professor: por que não removeram outliers? Resposta: são medidas biológicas plausíveis e concentradas na classe maligna; árvores são robustas a 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slide mais cobrado na defesa. Explicar vazamento de dados com um exemplo: se a mediana for calculada com a base inteira, o modelo 'viu' o teste. No Pipeline, cross_validate e GridSearchCV reajustam tudo dentro de cada fold.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o GaussianNB: atributos contínuos. MultinomialNB é para contagens e CategoricalNB para categorias. Explicar o que cada hiperparâmetro controla, principalmente ccp_alpha (poda) e max_features (descorrelação das árvores).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mostramos média E desvio: o desvio indica estabilidade. RF ajustado tem a maior média (0,949) e o menor desvio (0,050). A árvore baseline é a pior e mais instável.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uma matriz de confusão em voz alta: linhas = real, colunas = previsto, maligno primeiro (labels=[1,0]). FN = canto superior direito. Explicar por que FN é mais grave que FP.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 mede a capacidade de ordenar positivos acima de negativos, independente do limiar. Acurácia, precisão e revocação dependem do limiar de 0,5.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Wilcoxon: teste pareado não paramétrico sobre os 10 F1 por fold; pareado porque todos usaram os mesmos folds. Limitação: 10 folds = pouco poder, e os folds compartilham dados. Também: a CV dos ajustados é levemente otimista, pois os parâmetros foram escolhidos nos mesmos folds.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 floresta, apesar de caixa-preta, se apoia em variáveis coerentes. Explicar a diferença entre importância por impureza (calculada no treino) e por permutação (queda de F1 ao embaralhar uma coluna).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Responder diretamente à terceira pergunta do enunciado: o ganho compensa a perda de interpretabilidade e o custo? Sim, neste contexto, porque o erro relevante é o falso negativo.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respondendo as três perguntas do enunciado, nessa ordem. Depois abrir para perguntas e, se pedirem, executar trechos do notebook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de câncer de mama com aprendizado supervisionado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Naive Bayes × Árvore de Decisão × Random Forest — baseline e ajustado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Ciência de Dados · [Integrantes do grupo] ·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 problema importa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~74 mil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casos novos de câncer de mama por ano no Brasil (INCA, 2023–2025)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PAAF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exame rápido e barato, mas a leitura da lâmina depende do patologista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erro mais grave: um câncer classificado como benigno atrasa o tratamento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tx2"/>
                </a:solidFill>
              </a:rPr>
              <a:t>Pergunta do trabalho: qual algoritmo identifica melhor os tumores malignos — e o ajuste de hiperparâmetros realmente ajuda?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 modelo é apoio à decisão (segunda opinião), nunca substitui o médico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Classe positiva = maligno → precisão, revocação e F1 falam diretamente sobre detectar o câncer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base: Breast Cancer Wisconsin (Diagnostic)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569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pacientes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13716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508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atributos contínuos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429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37,3%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97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malignos (212)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08960" y="329184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3429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297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ausentes ou duplicados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120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Fonte pública: UCI ML Repository (Wolberg, Street &amp; Mangasarian, 1995), também no scikit-learn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 medidas do núcleo celular (raio, textura, perímetro, área, concavidade…) × média, erro padrão e pior valor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Rótulos confirmados por diagnóstico; atributos coerentes com o problema</a:t>
            </a:r>
            <a:endParaRPr lang="en-US" sz="1400" dirty="0"/>
          </a:p>
        </p:txBody>
      </p:sp>
      <p:pic>
        <p:nvPicPr>
          <p:cNvPr id="16" name="Image 0" descr="Distribuição das clas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371600"/>
            <a:ext cx="5486400" cy="39602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Tamanho e irregularidade separam as classes</a:t>
            </a:r>
            <a:endParaRPr lang="en-US" sz="3200" dirty="0"/>
          </a:p>
        </p:txBody>
      </p:sp>
      <p:pic>
        <p:nvPicPr>
          <p:cNvPr id="3" name="Image 0" descr="Densidade por clas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368" y="1280160"/>
            <a:ext cx="10122784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206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Malignos têm núcleos maiores (raio, perímetro, área) e mais irregulares (concavidade, pontos côncavos)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Suavidade, simetria e dimensão fractal quase não separam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Atributos de erro padrão são muito assimétricos (até 5,4) → contraria a normalidade do GaussianNB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Multicolinearidade forte; outliers são sinal, não ruído</a:t>
            </a:r>
            <a:endParaRPr lang="en-US" sz="3200" dirty="0"/>
          </a:p>
        </p:txBody>
      </p:sp>
      <p:pic>
        <p:nvPicPr>
          <p:cNvPr id="3" name="Image 0" descr="Matriz de correl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669280" cy="50748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1371600"/>
            <a:ext cx="53035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92240" y="150876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Correlação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Raio, perímetro e área: r ≈ 0,99. São 21 pares com |r| &gt; 0,9. Isso viola a independência condicional do Naive Bayes — a mesma evidência é contada várias vezes.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309360" y="3931920"/>
            <a:ext cx="53035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406908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Outliers mantidos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171 pacientes têm algum valor fora de 1,5×IQR, mas nos atributos de tamanho 100% deles são malignos. Remover apagaria justamente o sinal da doença.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Protocolo: justo, reprodutível e sem vazamento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Divisão 70/30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stratify=y, random_state=42 → 398 treino / 171 teste (37% malignos em ambos)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16352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923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Pipeline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imputação (mediana) + modelo; ajustado só com o treino de cada fold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84064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66944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6694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66944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CV estratificada k=10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mesmo objeto cv para os 6 modelos → mesmos folds, comparação pareada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51776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34656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3465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534656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GridSearchCV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34656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busca no treino, critério = F1 da classe maligno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19488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02368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0236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Teste 1 única vez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02368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avaliação final dos 6 modelos; nenhuma decisão depois disso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1064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8006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Por que Pipeline?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Imputar, padronizar ou balancear antes da divisão deixa estatísticas do teste vazarem para o treino e infla o resultado. Sem padronização em NB/AD/RF: são invariantes à escala. Sem SMOTE: desbalanceamento moderado; class_weight entrou na busca como hiperparâmetro.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algoritmos, duas versões cada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9377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Naive Bayes — GaussianNB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Ideia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Bayes + independência condicional; atributos contínuos → gaussiana por classe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Baseline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parâmetros padrão do scikit-learn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Grade testada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var_smoothing: 10⁻¹² a 10⁰ (25 valores)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Melhor: 3,2×10⁻¹⁰ (≈ padrão)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49377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Árvore de Decisão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24028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Ideia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Cortes ‘atributo ≤ limiar’ que reduzem a impureza; regras legíveis, alta variância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Baseline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parâmetros padrão do scikit-learn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Grade testada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criterion, max_depth, min_samples_leaf, ccp_alpha, class_weight (384 comb.)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Melhor: entropy, ccp_alpha=0,01 → 12 folhas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66160" cy="49377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5544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23960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Random Forest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24028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Ideia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Muitas árvores em amostras bootstrap + atributos sorteados; voto reduz a variância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Baseline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parâmetros padrão do scikit-learn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Grade testada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n_estimators, max_depth, max_features, min_samples_leaf, class_weight (72 comb.)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Melhor: 500 árvores, max_features=0,3, balanced_subsample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cruzada: RF ajustado é o melhor e o mais estável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(média ± dp)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Revocação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0,916 ± 0,074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0,906 ± 0,096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ajustado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0,917 ± 0,079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0,906 ± 0,096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0,885 ± 0,063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0,898 ± 0,106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ajustado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0,911 ± 0,071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0,904 ± 0,087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0,939 ± 0,064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0,932 ± 0,084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ajustado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0,949 ± 0,050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0,939 ± 0,068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F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589520" y="438912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O desvio padrão (≈0,05–0,08) é maior que várias diferenças entre modelos: parte delas pode ser só variação de partição.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final: RF ajustado perde só 4 de 64 cânceres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77240"/>
                <a:gridCol w="777240"/>
                <a:gridCol w="868680"/>
                <a:gridCol w="685800"/>
                <a:gridCol w="685800"/>
                <a:gridCol w="50292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Revocação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E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ajustado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E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E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ajustado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E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ajustado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F2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Matrizes de confus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80160"/>
            <a:ext cx="4480560" cy="282793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466344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Acurácia engana: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NB baseline tem 93,6% de acurácia e mesmo assim perdeu 10 cânceres (revocação 84%). Todos os modelos erram ‘para o lado benigno’ (precisão &gt; revocação) — por isso a revocação e o F1 da classe maligno são as métricas principais.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Curvas ROC: NB e RF ordenam o risco quase perfeitamente</a:t>
            </a:r>
            <a:endParaRPr lang="en-US" sz="3200" dirty="0"/>
          </a:p>
        </p:txBody>
      </p:sp>
      <p:pic>
        <p:nvPicPr>
          <p:cNvPr id="3" name="Image 0" descr="Curvas RO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438" y="1234440"/>
            <a:ext cx="5226564" cy="5303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675120" y="1463040"/>
            <a:ext cx="49377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AUC: RF ≈ 0,997, NB ≈ 0,995, árvore 0,89–0,93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 NB ordena muito bem os pacientes, mas com limiar 0,5 deixa passar 8–10 malignos: a correlação entre atributos ‘exagera’ as probabilidades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árvore isolada tem poucos limiares possíveis → curva em degraus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Como as AUCs são altas, baixar o limiar (ex.: 0,3) trocaria poucos FP por menos FN — escolhido via CV, nunca no teste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ajuste de hiperparâmetros valeu a pena?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Naive Bayes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+0,001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F1 na CV · Wilcoxon p = 1,00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Nenhum ganho. var_smoothing escolhido ≈ padrão: o limite é a hipótese do modelo, não o parâmetro.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Árvore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011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+0,026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F1 na CV · Wilcoxon p = 0,14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2918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Maior ganho. A poda (12 folhas vs 19) reduziu o sobreajuste: FP 7 → 1 no teste, mas FN ficou em 10.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Random Forest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011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+0,010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F1 na CV · Wilcoxon p = 0,50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918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Ganho pequeno. O padrão do sklearn já é bom para RF; FN 6 → 4 no teste, com ~7× mais tempo de treino.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Nenhum ganho superou o desvio padrão da CV nem foi significativo (α = 0,05). A única diferença significativa: RF ajustado × NB ajustado (p = 0,031).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modelos aprenderam</a:t>
            </a:r>
            <a:endParaRPr lang="en-US" sz="3200" dirty="0"/>
          </a:p>
        </p:txBody>
      </p:sp>
      <p:pic>
        <p:nvPicPr>
          <p:cNvPr id="3" name="Image 0" descr="Árvore de decisão ajust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035040" cy="2846057"/>
          </a:xfrm>
          <a:prstGeom prst="rect">
            <a:avLst/>
          </a:prstGeom>
        </p:spPr>
      </p:pic>
      <p:pic>
        <p:nvPicPr>
          <p:cNvPr id="4" name="Image 1" descr="Importância das variáve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34840"/>
            <a:ext cx="6035040" cy="210747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766560" y="1371600"/>
            <a:ext cx="4846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949440" y="146304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Regra principal da árvore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pior perímetro &gt; 112,8 e pior nº de pontos côncavos &gt; 0,14 → maligno. Núcleo grande + contorno irregular = malignidade: regra clinicamente plausível.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6766560" y="3931920"/>
            <a:ext cx="4846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949440" y="402336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Importância no RF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Pior perímetro, pontos côncavos, pior área e pior raio — as mesmas variáveis da árvore. Na permutação, cada uma vale pouco sozinha porque atributos correlacionados se compensam.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 × interpretabilidade × custo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ajustada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ajustado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teste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Cânceres perdidos (FN)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Estabilidade (dp F1 na CV)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Interpretabilidade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(probabilidades)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(12 regras)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(500 árvores)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de treino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de hiperparâmetros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4632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937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Veredito: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custo do RF é irrelevante para 569 pacientes. A perda de interpretabilidade é real, mas reduzir os cânceres perdidos de 10 para 4 compensa — como apoio à decisão e acompanhado da análise de importância. Se a explicabilidade fosse exigência regulatória, a árvore podada seria a escolha defensável.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Melhor algoritmo?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417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Random Forest ajustado: maior F1 (0,968), maior revocação (93,8%), mais estável.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06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O ajuste ajudou?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606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Útil para a árvore, marginal no RF, nulo no NB — sempre dentro da variação da CV.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Compensa?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7947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Sim: 4 em vez de 10 cânceres perdidos vale a perda de interpretabilidade.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Lição: </a:t>
            </a:r>
            <a:pPr indent="0" marL="0">
              <a:buNone/>
            </a:pPr>
            <a:r>
              <a:rPr lang="en-US" sz="2000" i="1" dirty="0">
                <a:solidFill>
                  <a:schemeClr val="bg1"/>
                </a:solidFill>
              </a:rPr>
              <a:t>em diagnóstico, escolha o modelo pelos falsos negativos, não pela acurácia.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Limitações: base pequena e de um único centro · teste com 64 malignos (1 paciente = 1,6 p.p. de revocação) · CV dos ajustados levemente otimista · Wilcoxon com pouco poder.   Próximos passos: nested CV, ajuste de limiar, validação externa.</a:t>
            </a:r>
            <a:endParaRPr lang="en-US" sz="130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Notebook, código, dados e relatório: pasta projeto_classificacao/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gnostico">
  <a:themeElements>
    <a:clrScheme name="Diagnostico">
      <a:dk1>
        <a:srgbClr val="2B2B2B"/>
      </a:dk1>
      <a:lt1>
        <a:srgbClr val="FFFFFF"/>
      </a:lt1>
      <a:dk2>
        <a:srgbClr val="5A1F3A"/>
      </a:dk2>
      <a:lt2>
        <a:srgbClr val="F6EEF2"/>
      </a:lt2>
      <a:accent1>
        <a:srgbClr val="9E2A5B"/>
      </a:accent1>
      <a:accent2>
        <a:srgbClr val="1C7293"/>
      </a:accent2>
      <a:accent3>
        <a:srgbClr val="E8A0BF"/>
      </a:accent3>
      <a:accent4>
        <a:srgbClr val="5E8C61"/>
      </a:accent4>
      <a:accent5>
        <a:srgbClr val="C9A227"/>
      </a:accent5>
      <a:accent6>
        <a:srgbClr val="7A7A7A"/>
      </a:accent6>
      <a:hlink>
        <a:srgbClr val="1C7293"/>
      </a:hlink>
      <a:folHlink>
        <a:srgbClr val="5A1F3A"/>
      </a:folHlink>
    </a:clrScheme>
    <a:fontScheme name="Diagnostic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de câncer de mama — NB × AD × RF</dc:title>
  <dc:subject>PptxGenJS Presentation</dc:subject>
  <dc:creator>PptxGenJS</dc:creator>
  <cp:lastModifiedBy>PptxGenJS</cp:lastModifiedBy>
  <cp:revision>1</cp:revision>
  <dcterms:created xsi:type="dcterms:W3CDTF">2026-10-26T11:25:59Z</dcterms:created>
  <dcterms:modified xsi:type="dcterms:W3CDTF">2026-10-26T11:25:59Z</dcterms:modified>
</cp:coreProperties>
</file>